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0"/>
            <a:ext cx="1773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D23"/>
                </a:solidFill>
              </a:rPr>
              <a:t>PAARAL — Entity-Relationship Diagram  |  Student · School · DepEd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6400800" cy="292608"/>
          </a:xfrm>
          <a:prstGeom prst="rect">
            <a:avLst/>
          </a:prstGeom>
          <a:solidFill>
            <a:srgbClr val="DBEA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64008" cy="292608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32918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B8C"/>
                </a:solidFill>
              </a:rPr>
              <a:t>STUDENT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74320"/>
            <a:ext cx="5303520" cy="292608"/>
          </a:xfrm>
          <a:prstGeom prst="rect">
            <a:avLst/>
          </a:prstGeom>
          <a:solidFill>
            <a:srgbClr val="FFEDD5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274320"/>
            <a:ext cx="64008" cy="2926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6016" y="32918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2400E"/>
                </a:solidFill>
              </a:rPr>
              <a:t>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0" y="274320"/>
            <a:ext cx="292608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35840" y="274320"/>
            <a:ext cx="64008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63856" y="32918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SCHOOL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0" y="274320"/>
            <a:ext cx="2377440" cy="29260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0" y="274320"/>
            <a:ext cx="640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72816" y="32918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DEPED 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3060.0" y="2468880"/>
            <a:ext cx="0.0" cy="137160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20140" y="3026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submits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1645920.0"/>
            <a:ext cx="4526279" cy="1307592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32019" y="21717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attended (Gr 6)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23060.0" y="5084064"/>
            <a:ext cx="0.0" cy="1865376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20140" y="58887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contains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971800" y="1847088.0"/>
            <a:ext cx="868680" cy="2615184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03220" y="3026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has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4462272.0"/>
            <a:ext cx="868680" cy="1115568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03220" y="48920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has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23060.0" y="5084064"/>
            <a:ext cx="3566160.0" cy="2962656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03220" y="64373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attaches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71800" y="4462272.0"/>
            <a:ext cx="10012680" cy="118872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75220" y="43936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reviewed via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971800" y="2953512.0"/>
            <a:ext cx="4526279" cy="4617720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32019" y="51343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appears 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95559" y="2953512.0"/>
            <a:ext cx="2788921" cy="5184648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87099" y="54178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has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95559" y="2953512.0"/>
            <a:ext cx="2788921" cy="1627632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087099" y="3639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receives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95559" y="2953512.0"/>
            <a:ext cx="5806441" cy="1042416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595859" y="33467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governed by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0195559" y="1444752.0"/>
            <a:ext cx="2788921" cy="1508760.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087099" y="20711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belongs to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333220.0" y="2066544"/>
            <a:ext cx="0.0" cy="1591056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830300" y="2734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makes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350740.0" y="1664208"/>
            <a:ext cx="0.0" cy="1810512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847820" y="2441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contains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7350740.0" y="1664208"/>
            <a:ext cx="0.0" cy="4553712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847820" y="38130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4B5563"/>
                </a:solidFill>
              </a:rPr>
              <a:t>analyzed 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822960"/>
            <a:ext cx="2697480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822960"/>
            <a:ext cx="2697480" cy="347472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98079" y="822960"/>
            <a:ext cx="64008" cy="34747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6095" y="8869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2400E"/>
                </a:solidFill>
              </a:rPr>
              <a:t>SCHOOL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1170432"/>
            <a:ext cx="2697480" cy="127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07223" y="120700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52943" y="123444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3" y="122529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0687" y="12252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7" y="12252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4622" y="12252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SCH001…SCH050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19" y="14264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6527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07223" y="160934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19" y="162763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96527" y="162763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64622" y="162763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public | private_esc | private_no_esc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19" y="182880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sector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6527" y="1828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64622" y="18288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sectarian | non_sectarian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07223" y="201168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19" y="202996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region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7" y="202996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19" y="22311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province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96527" y="223113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07223" y="2414016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89519" y="24323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municipality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96527" y="243230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19" y="26334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barangay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96527" y="26334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07223" y="2816352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9519" y="283464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postal_code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96527" y="283464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19" y="303580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lat / lng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96527" y="3035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decimal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07223" y="321868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89519" y="323697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tuition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96527" y="323697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64622" y="323697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₱ annual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19" y="343814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esc_subsidy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96527" y="343814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64622" y="34381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₱ annual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07223" y="362102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89519" y="363931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net_cost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96527" y="36393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64622" y="36393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tuition − subsidy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89519" y="384048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slots_total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96527" y="384048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07223" y="402336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89519" y="404164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slots_available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96527" y="40416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19" y="424281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distance_km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96527" y="42428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decimal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07223" y="4425696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89519" y="444398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commute_minutes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96527" y="44439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89519" y="464515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esc_rating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96527" y="464515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64622" y="46451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0–5 stars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07223" y="4828032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89519" y="484632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admission_category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96527" y="484632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64622" y="484632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ESC Partner / Public / Selective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82296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4320" y="82296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82296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02336" y="8869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LEARNER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117043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83464" y="120700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9184" y="123444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9184" y="122529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12252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lrn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72768" y="12252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40863" y="12252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12-digit DepEd LRN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14264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given_name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72768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3464" y="160934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5760" y="162763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family_name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72768" y="162763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60" y="182880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barangay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72768" y="1828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83464" y="201168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60" y="202996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municipality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72768" y="202996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29184" y="2240280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9184" y="223113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" y="22311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grade6_school_id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72768" y="223113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340863" y="223113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3840480"/>
            <a:ext cx="2697480" cy="1243584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74320" y="384048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384048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02336" y="390448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APPLICATION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18795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83464" y="422452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29184" y="425196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29184" y="424281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424281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72768" y="42428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29184" y="445312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9184" y="444398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6928" y="444398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lrn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72768" y="44439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340863" y="44439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LEARNER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83464" y="462686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65760" y="464515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status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72768" y="464515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40863" y="46451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draft | submitted | cancelled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484632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submitted_at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72768" y="484632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timestamp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74320" y="6949440"/>
            <a:ext cx="2697480" cy="1243584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74320" y="694944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74320" y="694944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02336" y="701344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WISHLIST_ENTRY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4320" y="729691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83464" y="733348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9184" y="736092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9184" y="735177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66928" y="735177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72768" y="735177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29184" y="756208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9184" y="755294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6928" y="755294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application_id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72768" y="755294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340863" y="75529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APPLICATION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83464" y="773582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29184" y="7763256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29184" y="7754112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6928" y="775411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school_id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72768" y="77541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340863" y="77541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65760" y="795528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rank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72768" y="795528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340863" y="795528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1 = first choice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840480" y="822960"/>
            <a:ext cx="2697480" cy="2048256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840480" y="82296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840480" y="82296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968496" y="8869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ELIGIBILITY_ASSESSMENT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840480" y="117043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849624" y="120700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895344" y="123444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895344" y="122529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133088" y="12252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138928" y="12252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895344" y="143560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895344" y="142646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33088" y="14264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application_id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38928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907023" y="142646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APPLICATION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849624" y="160934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931920" y="162763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esc_intent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138928" y="162763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907023" y="162763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yes | no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931920" y="182880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school_type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138928" y="1828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07023" y="18288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public | private | als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849624" y="201168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931920" y="202996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segs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38928" y="202996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json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907023" y="202996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4ps, gidca, ip, pwd, special, cbms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31920" y="22311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income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138928" y="223113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907023" y="223113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poor | low | lower_middle | middle | above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849624" y="2414016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931920" y="24323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employment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138928" y="243230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907023" y="243230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local | abroad | business | unemployed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31920" y="26334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category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138928" y="26334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907023" y="26334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A | B | C | D | none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840480" y="475488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840480" y="475488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840480" y="475488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968496" y="481888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SURVEY_RESPONSE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840480" y="510235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849624" y="513892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895344" y="516636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895344" y="515721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133088" y="515721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138928" y="51572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895344" y="536752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895344" y="535838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133088" y="535838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application_id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38928" y="53583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907023" y="53583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APPLICATION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849624" y="554126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3931920" y="555955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ease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138928" y="555955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907023" y="55595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1–5 scale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931920" y="576072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helpful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138928" y="576072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907023" y="576072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yes | somewhat | no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849624" y="594360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931920" y="596188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concern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138928" y="596188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907023" y="596188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cost | distance | quality | slots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931920" y="616305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suggestions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138928" y="61630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text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907023" y="616305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optional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3840480" y="8046720"/>
            <a:ext cx="269748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3840480" y="8046720"/>
            <a:ext cx="2697480" cy="347472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840480" y="8046720"/>
            <a:ext cx="64008" cy="34747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968496" y="811072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DOCUMENT_UPLOAD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3840480" y="8394192"/>
            <a:ext cx="2697480" cy="127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849624" y="843076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895344" y="845820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895344" y="844905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33088" y="844905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138928" y="84490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3895344" y="865936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895344" y="865022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133088" y="865022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application_id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138928" y="865022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907023" y="865022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APPLICATION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849624" y="883310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931920" y="885139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doc_type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138928" y="88513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931920" y="905256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storage_path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138928" y="905256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3849624" y="923544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3931920" y="925372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uploaded_at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138928" y="925372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timestamp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2984480" y="822960"/>
            <a:ext cx="2697480" cy="1243584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2984480" y="822960"/>
            <a:ext cx="269748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2984480" y="822960"/>
            <a:ext cx="64008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3112496" y="8869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SCHOOL_USER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2984480" y="1170432"/>
            <a:ext cx="2697480" cy="12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2993624" y="120700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3039344" y="123444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3039344" y="122529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3277088" y="12252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4282928" y="12252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3039344" y="143560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3039344" y="142646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3277088" y="14264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school_id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4282928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5051023" y="142646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2993624" y="160934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3075920" y="162763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name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4282928" y="162763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3075920" y="182880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role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4282928" y="1828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5051023" y="18288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staff | esc_committee_member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2984480" y="3657600"/>
            <a:ext cx="2697480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984480" y="3657600"/>
            <a:ext cx="269748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2984480" y="3657600"/>
            <a:ext cx="64008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3112496" y="372160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APPLICATION_REVIEW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2984480" y="4005072"/>
            <a:ext cx="2697480" cy="12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2993624" y="404164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3039344" y="406908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3039344" y="405993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3277088" y="40599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4282928" y="405993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3039344" y="427024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3039344" y="426110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3277088" y="42611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application_id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4282928" y="426110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5051023" y="426110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APPLICATION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2993624" y="444398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3039344" y="4471416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3039344" y="4462272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3277088" y="44622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school_id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4282928" y="44622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5051023" y="44622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3039344" y="4672584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3039344" y="4663440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277088" y="466344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reviewed_by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4282928" y="466344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5051023" y="46634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SCHOOL_USER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2993624" y="484632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3075920" y="486460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decision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4282928" y="48646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5051023" y="486460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pending | approved | waitlisted | rejected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3075920" y="506577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remarks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4282928" y="506577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text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2993624" y="5248656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3075920" y="526694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reviewed_at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4282928" y="526694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timestamp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2984480" y="731520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2984480" y="7315200"/>
            <a:ext cx="269748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2984480" y="7315200"/>
            <a:ext cx="64008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3112496" y="737920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SLOT_ALLOCATION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2984480" y="7662672"/>
            <a:ext cx="2697480" cy="12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2993624" y="769924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3039344" y="772668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3039344" y="771753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3277088" y="77175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4282928" y="771753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3039344" y="792784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3039344" y="791870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3277088" y="79187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school_id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4282928" y="791870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5051023" y="791870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SCHOOL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2993624" y="810158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3075920" y="81198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school_year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282928" y="81198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5051023" y="81198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e.g. 2026-2027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3075920" y="832104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slots_allocated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4282928" y="832104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12993624" y="850392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3075920" y="852220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slots_consumed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4282928" y="85222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3075920" y="872337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status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4282928" y="872337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enum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5051023" y="872337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open | closed | full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6002000" y="822960"/>
            <a:ext cx="269748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002000" y="822960"/>
            <a:ext cx="269748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6002000" y="822960"/>
            <a:ext cx="6400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16130016" y="8869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REGION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16002000" y="1170432"/>
            <a:ext cx="269748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6011144" y="120700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6056864" y="123444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6056864" y="122529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6294608" y="12252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code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7300448" y="12252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6093440" y="14264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name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7300448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6002000" y="3474720"/>
            <a:ext cx="269748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6002000" y="3474720"/>
            <a:ext cx="269748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6002000" y="3474720"/>
            <a:ext cx="6400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6130016" y="353872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DIVISION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6002000" y="3822192"/>
            <a:ext cx="269748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6011144" y="385876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6056864" y="388620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6056864" y="387705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6294608" y="387705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code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7300448" y="38770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6093440" y="407822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name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7300448" y="407822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16011144" y="426110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6056864" y="4288536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16056864" y="4279392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6294608" y="427939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region_code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7300448" y="42793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8068543" y="427939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REGION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16002000" y="6217920"/>
            <a:ext cx="2697480" cy="2048256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6002000" y="6217920"/>
            <a:ext cx="2697480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6002000" y="6217920"/>
            <a:ext cx="6400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16130016" y="628192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PLANNING_SNAPSHOT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16002000" y="6565392"/>
            <a:ext cx="269748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6011144" y="6601968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6056864" y="6629400"/>
            <a:ext cx="201168" cy="146304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16056864" y="6620256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6294608" y="662025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id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7300448" y="66202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uuid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16056864" y="6830568"/>
            <a:ext cx="201168" cy="146304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16056864" y="6821424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6294608" y="682142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region_code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7300448" y="682142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8068543" y="682142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9CA3AF"/>
                </a:solidFill>
              </a:rPr>
              <a:t>→ REGION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16011144" y="7004304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16093440" y="702259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school_year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7300448" y="70225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string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6093440" y="7223760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projected_g7_enroll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7300448" y="722376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6011144" y="7406640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16093440" y="742492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public_jhs_capacity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7300448" y="742492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6093440" y="762609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esc_slots_needed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7300448" y="762609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16011144" y="7808976"/>
            <a:ext cx="2679192" cy="2011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16093440" y="782726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esc_slots_available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7300448" y="78272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int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6093440" y="802843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1A1D23"/>
                </a:solidFill>
              </a:rPr>
              <a:t>generated_at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7300448" y="802843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7280"/>
                </a:solidFill>
              </a:rPr>
              <a:t>timestamp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274320" y="11338560"/>
            <a:ext cx="1773936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457200" y="11430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D23"/>
                </a:solidFill>
              </a:rPr>
              <a:t>LEGEND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457200" y="11722608"/>
            <a:ext cx="2103120" cy="256032"/>
          </a:xfrm>
          <a:prstGeom prst="rect">
            <a:avLst/>
          </a:prstGeom>
          <a:solidFill>
            <a:srgbClr val="DBEAFF"/>
          </a:solidFill>
          <a:ln w="19050">
            <a:solidFill>
              <a:srgbClr val="1A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57200" y="11722608"/>
            <a:ext cx="64008" cy="256032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585216" y="11768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4B8C"/>
                </a:solidFill>
              </a:rPr>
              <a:t>Student View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2834640" y="11722608"/>
            <a:ext cx="210312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834640" y="11722608"/>
            <a:ext cx="6400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2962656" y="11768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School View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5212080" y="11722608"/>
            <a:ext cx="2103120" cy="25603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5212080" y="11722608"/>
            <a:ext cx="6400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5340096" y="11768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DepEd View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7589520" y="11722608"/>
            <a:ext cx="2103120" cy="256032"/>
          </a:xfrm>
          <a:prstGeom prst="rect">
            <a:avLst/>
          </a:prstGeom>
          <a:solidFill>
            <a:srgbClr val="FFEDD5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7589520" y="11722608"/>
            <a:ext cx="64008" cy="25603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7717536" y="11768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2400E"/>
                </a:solidFill>
              </a:rPr>
              <a:t>Shared / Core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10149840" y="11722608"/>
            <a:ext cx="256032" cy="256032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10149840" y="1175918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A4B8C"/>
                </a:solidFill>
              </a:rPr>
              <a:t>PK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0442448" y="11768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D23"/>
                </a:solidFill>
              </a:rPr>
              <a:t>= Primary Key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11978640" y="11722608"/>
            <a:ext cx="256032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1978640" y="1175918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2400E"/>
                </a:solidFill>
              </a:rPr>
              <a:t>FK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2271248" y="11768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D23"/>
                </a:solidFill>
              </a:rPr>
              <a:t>= Foreign Key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57200" y="12088368"/>
            <a:ext cx="1737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B7280"/>
                </a:solidFill>
              </a:rPr>
              <a:t>⚠  Fields marked with an asterisk (*) are mocked in the current pilot phase. Production implementation will use real LIS / BEIS data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